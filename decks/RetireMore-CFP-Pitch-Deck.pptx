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0" y="6126480"/>
            <a:ext cx="502920" cy="4572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Shape 2"/>
          <p:cNvSpPr/>
          <p:nvPr/>
        </p:nvSpPr>
        <p:spPr>
          <a:xfrm>
            <a:off x="12070080" y="6126480"/>
            <a:ext cx="45720" cy="502920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5" name="Image 0" descr="/Users/eddie/Projects/RetireWise/Retire-Portal/apps/portal/public/images/RetireMore-Logo-White-ta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822960"/>
            <a:ext cx="411480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PARTNERSHIP FOR FIDUCIARY ADVISORS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26517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retirement platform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097280" y="3520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clients are </a:t>
            </a:r>
            <a:pPr indent="0" marL="0">
              <a:buNone/>
            </a:pPr>
            <a:r>
              <a:rPr lang="en-US" sz="5400" b="1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asking for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09728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B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income.  More purpose.  More clarity.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097280" y="5760720"/>
            <a:ext cx="1097280" cy="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5870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EDDIE APPELL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6163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RetireMore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conversation you keep having.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clients trust you to handle the money. But they keep asking you questions that aren't really about the money.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935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64008" cy="155448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51560" y="25603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we actually retire?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2918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planning + lifestyle fit + healthcare access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2331720"/>
            <a:ext cx="35935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9392" y="2331720"/>
            <a:ext cx="64008" cy="155448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82312" y="25603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we move abroad?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82312" y="32918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Visas, healthcare, cost of living, currency risk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10144" y="2331720"/>
            <a:ext cx="35935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10144" y="2331720"/>
            <a:ext cx="64008" cy="155448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7" name="Text 15"/>
          <p:cNvSpPr/>
          <p:nvPr/>
        </p:nvSpPr>
        <p:spPr>
          <a:xfrm>
            <a:off x="8174736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513064" y="25603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am I going to do all day?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13064" y="32918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purpose, social structure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87368"/>
            <a:ext cx="35935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87368"/>
            <a:ext cx="64008" cy="155448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873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051560" y="431596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I leave a legacy beyond money?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04748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Volunteering, mentorship, family values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79392" y="4087368"/>
            <a:ext cx="35935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79392" y="4087368"/>
            <a:ext cx="64008" cy="155448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4443984" y="40873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782312" y="431596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to my digital life?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82312" y="504748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accounts, photos, crypto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10144" y="4087368"/>
            <a:ext cx="35935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10144" y="4087368"/>
            <a:ext cx="64008" cy="155448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2" name="Text 30"/>
          <p:cNvSpPr/>
          <p:nvPr/>
        </p:nvSpPr>
        <p:spPr>
          <a:xfrm>
            <a:off x="8174736" y="40873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8513064" y="431596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I give while I'm still alive?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13064" y="504748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gifting + estate optimization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planning software answers the first half of one question. </a:t>
            </a:r>
            <a:pPr indent="0" marL="0">
              <a:buNone/>
            </a:pPr>
            <a:r>
              <a:rPr lang="en-US" sz="1500" b="1" i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answers all of them.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3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B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RETIREMENT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solving one third of the picture.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4E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is everyone else.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retirees say having a sense of purpose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essential to a successful retirement.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697480"/>
            <a:ext cx="5029200" cy="1078992"/>
          </a:xfrm>
          <a:prstGeom prst="rect">
            <a:avLst/>
          </a:prstGeom>
          <a:solidFill>
            <a:srgbClr val="1F2A45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697480"/>
            <a:ext cx="73152" cy="107899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80720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68096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Security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0960" y="3081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taxes, withdrawals — what your software solves.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80960" y="3410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$315K projected lifetime healthcare bill — Fidelity, 2024.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3904488"/>
            <a:ext cx="5029200" cy="1078992"/>
          </a:xfrm>
          <a:prstGeom prst="rect">
            <a:avLst/>
          </a:prstGeom>
          <a:solidFill>
            <a:srgbClr val="1F2A45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904488"/>
            <a:ext cx="73152" cy="1078992"/>
          </a:xfrm>
          <a:prstGeom prst="rect">
            <a:avLst/>
          </a:prstGeom>
          <a:solidFill>
            <a:srgbClr val="E6B55A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4014216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680960" y="3995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 &amp; Purpose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80960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who, and how clients spend their time.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80960" y="4617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B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purpose → 15% lower mortality — Psychological Science, 2014.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5111496"/>
            <a:ext cx="5029200" cy="1078992"/>
          </a:xfrm>
          <a:prstGeom prst="rect">
            <a:avLst/>
          </a:prstGeom>
          <a:solidFill>
            <a:srgbClr val="1F2A45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5111496"/>
            <a:ext cx="73152" cy="10789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522122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680960" y="5202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&amp; Impact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0960" y="5495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clients leave behind — financial and personal.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80960" y="5824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46% of Americans 55+ have a will — Caring.com, 2024.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Edward Jones / Age Wave, “Four Pillars of the New Retirement”; Fidelity Retiree Health Care Cost Estimate (2024); Hill &amp; Turiano, Psychological Science (2014); Caring.com Wills &amp; Estate Planning Study (2024).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100" dirty="0"/>
          </a:p>
        </p:txBody>
      </p:sp>
      <p:pic>
        <p:nvPicPr>
          <p:cNvPr id="3" name="Image 0" descr="/Users/eddie/Projects/RetireWise/Retire-Portal/apps/portal/public/images/RetireMore-Logo-Black-ta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68680"/>
            <a:ext cx="45720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202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always-on engagement layer for fiduciary advisors.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29718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sits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planning software you already use — eMoney, RightCapital, MoneyGuidePro — not in place of it. Your stack is built for the financial half of retirement.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built for the rest: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your clients will live, who they'll be when they stop working, what they'll leave behind, and what happens to their digital life.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9834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part of retirement your clients keep asking about — and the part nobody else has built for advisors yet.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0" y="2788920"/>
            <a:ext cx="4782312" cy="3337560"/>
          </a:xfrm>
          <a:prstGeom prst="rect">
            <a:avLst/>
          </a:prstGeom>
          <a:solidFill>
            <a:srgbClr val="1F2A45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0" y="2788920"/>
            <a:ext cx="91440" cy="333756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28346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10" name="Text 7"/>
          <p:cNvSpPr/>
          <p:nvPr/>
        </p:nvSpPr>
        <p:spPr>
          <a:xfrm>
            <a:off x="7269480" y="3566160"/>
            <a:ext cx="4142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strongest predictors of health and happiness in later life are the quality of your relationships and your sense of meaning. Not your net worth. Not your asset allocation.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69480" y="5330952"/>
            <a:ext cx="548640" cy="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539496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Waldinger, MD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69480" y="5650992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Harvard Study of Adult Development — the longest-running study of adult life, since 1938.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answers the questions your software </a:t>
            </a:r>
            <a:pPr indent="0" marL="0">
              <a:buNone/>
            </a:pPr>
            <a:r>
              <a:rPr lang="en-US" sz="1400" b="1" i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never built to ask.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tools. Three dimensions of retirement.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gets full access to every tool. You decide which ones to enable per client.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70332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73152" cy="42062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67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SECURITY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taxes, Social Security, healthcare, withdrawal strategies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273552"/>
            <a:ext cx="164592" cy="164592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Planner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1546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902202"/>
            <a:ext cx="164592" cy="164592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78333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Optimization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78333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530852"/>
            <a:ext cx="164592" cy="164592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4119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Impact Analyzer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44119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5159502"/>
            <a:ext cx="164592" cy="164592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04063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&amp; Drawdown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504063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788152"/>
            <a:ext cx="164592" cy="164592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669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Cost Calculator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56692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2103120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2103120"/>
            <a:ext cx="3703320" cy="91440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0" y="2103120"/>
            <a:ext cx="73152" cy="42062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267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PURPOSE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live, who you'll be, how you'll spend your time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73552"/>
            <a:ext cx="164592" cy="16459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Abroad AI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3760" y="31546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4111752"/>
            <a:ext cx="164592" cy="16459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992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Relocate Selector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39928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949952"/>
            <a:ext cx="164592" cy="16459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831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Builder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48310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5788152"/>
            <a:ext cx="164592" cy="16459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5669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Purpose Matchmaker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23760" y="56692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0" y="2103120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229600" y="2103120"/>
            <a:ext cx="3703320" cy="9144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4" name="Shape 42"/>
          <p:cNvSpPr/>
          <p:nvPr/>
        </p:nvSpPr>
        <p:spPr>
          <a:xfrm>
            <a:off x="8229600" y="2103120"/>
            <a:ext cx="73152" cy="4206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2267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&amp; IMPACT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0392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distribution, lifetime giving, your digital footprint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03920" y="3273552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8778240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Flow Visualizer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1064240" y="31546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03920" y="4530852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8778240" y="44119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Gifting Strategy Planner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064240" y="44119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503920" y="5788152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4" name="Text 52"/>
          <p:cNvSpPr/>
          <p:nvPr/>
        </p:nvSpPr>
        <p:spPr>
          <a:xfrm>
            <a:off x="8778240" y="5669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Estate Manager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1064240" y="56692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6400800"/>
            <a:ext cx="0" cy="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57" name="Shape 5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B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score. One narrative. One action plan.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RetireMore's AI Orchestrator pulls every client's data across all 12 tools and generates a unified retirement plan — for free, on every account.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72800" cy="3794760"/>
          </a:xfrm>
          <a:prstGeom prst="rect">
            <a:avLst/>
          </a:prstGeom>
          <a:solidFill>
            <a:srgbClr val="FEFCF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468880"/>
            <a:ext cx="1371600" cy="1463040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788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Eddie &amp; Lara are well-positioned with $2.2M in assets, multiple pensions, and expenses covered through age 92. Key opportunities: relocating to Washington for $20K annual tax savings and optimizing estate planning with strategic gifting.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4160520"/>
            <a:ext cx="2061972" cy="292608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4160520"/>
            <a:ext cx="2061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state residence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2292" y="4160520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/>
        </p:spPr>
      </p:sp>
      <p:sp>
        <p:nvSpPr>
          <p:cNvPr id="16" name="Text 14"/>
          <p:cNvSpPr/>
          <p:nvPr/>
        </p:nvSpPr>
        <p:spPr>
          <a:xfrm>
            <a:off x="4622292" y="416052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Tax-advantaged gifting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97980" y="4160520"/>
            <a:ext cx="1906524" cy="292608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/>
        </p:spPr>
      </p:sp>
      <p:sp>
        <p:nvSpPr>
          <p:cNvPr id="18" name="Text 16"/>
          <p:cNvSpPr/>
          <p:nvPr/>
        </p:nvSpPr>
        <p:spPr>
          <a:xfrm>
            <a:off x="6697980" y="4160520"/>
            <a:ext cx="19065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identity plan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35440" y="2468880"/>
            <a:ext cx="210312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235440" y="3035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235440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tools analyzed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4800600"/>
            <a:ext cx="10424160" cy="0"/>
          </a:xfrm>
          <a:prstGeom prst="rect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CROSS-TOOL SYNERGIES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Tax-Optimized Relocation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$399K over 20 yrs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Tax Reduction via Gifting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5532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$540K tax-free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Lifestyle Integration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55280" y="5532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+ culture aligned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clients walk into your meetings </a:t>
            </a:r>
            <a:pPr indent="0" marL="0">
              <a:buNone/>
            </a:pPr>
            <a:r>
              <a:rPr lang="en-US" sz="1300" b="1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prepared</a:t>
            </a:r>
            <a:pPr indent="0" marL="0">
              <a:buNone/>
            </a:pPr>
            <a:r>
              <a:rPr lang="en-US" sz="13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time.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name. Your logo. Your URL.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sees you front and center. RetireMore stays in the background.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675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67512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2860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286000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228600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2258568"/>
            <a:ext cx="557784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2585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jane-thompson.retiremore.com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2606040"/>
            <a:ext cx="6400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715768"/>
            <a:ext cx="685800" cy="68580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157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Jane Thompson, CFP®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Wealth Advisors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2788920"/>
            <a:ext cx="1097280" cy="548640"/>
          </a:xfrm>
          <a:prstGeom prst="rect">
            <a:avLst/>
          </a:prstGeom>
          <a:solidFill>
            <a:srgbClr val="F9F8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back, Robert.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0233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retirement readiness, organized by Jane.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434840"/>
            <a:ext cx="1417320" cy="777240"/>
          </a:xfrm>
          <a:prstGeom prst="rect">
            <a:avLst/>
          </a:prstGeom>
          <a:solidFill>
            <a:srgbClr val="F9F8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599432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681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4434840"/>
            <a:ext cx="1417320" cy="777240"/>
          </a:xfrm>
          <a:prstGeom prst="rect">
            <a:avLst/>
          </a:prstGeom>
          <a:solidFill>
            <a:srgbClr val="F9F8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4599432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4681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0" y="4434840"/>
            <a:ext cx="1417320" cy="777240"/>
          </a:xfrm>
          <a:prstGeom prst="rect">
            <a:avLst/>
          </a:prstGeom>
          <a:solidFill>
            <a:srgbClr val="F9F8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77640" y="4599432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4681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4434840"/>
            <a:ext cx="1417320" cy="777240"/>
          </a:xfrm>
          <a:prstGeom prst="rect">
            <a:avLst/>
          </a:prstGeom>
          <a:solidFill>
            <a:srgbClr val="F9F8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32120" y="4599432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4681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2148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Customize everything.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589520" y="2880360"/>
            <a:ext cx="164592" cy="16459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5" name="Text 33"/>
          <p:cNvSpPr/>
          <p:nvPr/>
        </p:nvSpPr>
        <p:spPr>
          <a:xfrm>
            <a:off x="7909560" y="2788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subdomain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09560" y="3081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advisor-name.retiremore.com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89520" y="3593592"/>
            <a:ext cx="164592" cy="16459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8" name="Text 36"/>
          <p:cNvSpPr/>
          <p:nvPr/>
        </p:nvSpPr>
        <p:spPr>
          <a:xfrm>
            <a:off x="7909560" y="3502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photo, name, title, firm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09560" y="3794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 every client dashboard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89520" y="4306824"/>
            <a:ext cx="164592" cy="16459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1" name="Text 39"/>
          <p:cNvSpPr/>
          <p:nvPr/>
        </p:nvSpPr>
        <p:spPr>
          <a:xfrm>
            <a:off x="7909560" y="42153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 reports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909560" y="4507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colors, logo, ADV link, custom disclaimers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89520" y="5020056"/>
            <a:ext cx="164592" cy="16459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4" name="Text 42"/>
          <p:cNvSpPr/>
          <p:nvPr/>
        </p:nvSpPr>
        <p:spPr>
          <a:xfrm>
            <a:off x="7909560" y="49286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apps per client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909560" y="52212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the tools relevant to each client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89520" y="5733288"/>
            <a:ext cx="164592" cy="16459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7" name="Text 45"/>
          <p:cNvSpPr/>
          <p:nvPr/>
        </p:nvSpPr>
        <p:spPr>
          <a:xfrm>
            <a:off x="7909560" y="5641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advisor notes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909560" y="59344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client — never visible to them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client. Every score. One screen.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readiness scores, gaps, and progress at a glance — and act on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858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858000" cy="457200"/>
          </a:xfrm>
          <a:prstGeom prst="rect">
            <a:avLst/>
          </a:prstGeom>
          <a:solidFill>
            <a:srgbClr val="2A35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Clients (28 of 45)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0" y="226771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C8973A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2267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Invite Client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6858000" cy="292608"/>
          </a:xfrm>
          <a:prstGeom prst="rect">
            <a:avLst/>
          </a:prstGeom>
          <a:solidFill>
            <a:srgbClr val="F9F8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&amp; Marie 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3017520"/>
            <a:ext cx="457200" cy="45720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0" y="309067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0906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ago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incomplete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6858000" cy="594360"/>
          </a:xfrm>
          <a:prstGeom prst="rect">
            <a:avLst/>
          </a:prstGeom>
          <a:solidFill>
            <a:srgbClr val="F9F8F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 Patel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36118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0" y="36850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8973A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685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incomplete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&amp; Diana W.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26080" y="42062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0" y="427939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0" y="42793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ago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incomplete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709160"/>
            <a:ext cx="6858000" cy="594360"/>
          </a:xfrm>
          <a:prstGeom prst="rect">
            <a:avLst/>
          </a:prstGeom>
          <a:solidFill>
            <a:srgbClr val="F9F8F6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754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Jensen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26080" y="480060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2926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657600" y="487375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DC2626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0" y="48737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needed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754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ago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35040" y="4754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incomplete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5349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Elena Marchetti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26080" y="53949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292608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0" y="546811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0" y="54681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5349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35040" y="5349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incomplete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72400" y="21488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advisors,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consumers.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7772400" y="3538728"/>
            <a:ext cx="201168" cy="201168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0" y="3538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92440" y="3474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CSV import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0924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roster in 60 seconds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772400" y="4133088"/>
            <a:ext cx="201168" cy="201168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59" name="Text 57"/>
          <p:cNvSpPr/>
          <p:nvPr/>
        </p:nvSpPr>
        <p:spPr>
          <a:xfrm>
            <a:off x="7772400" y="4133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092440" y="4069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scores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09244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AI-driven, refreshed daily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772400" y="4727448"/>
            <a:ext cx="201168" cy="201168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63" name="Text 61"/>
          <p:cNvSpPr/>
          <p:nvPr/>
        </p:nvSpPr>
        <p:spPr>
          <a:xfrm>
            <a:off x="7772400" y="4727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092440" y="4663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092440" y="4937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PDFs and meeting prep packets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772400" y="5321808"/>
            <a:ext cx="201168" cy="201168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67" name="Text 65"/>
          <p:cNvSpPr/>
          <p:nvPr/>
        </p:nvSpPr>
        <p:spPr>
          <a:xfrm>
            <a:off x="7772400" y="5321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092440" y="5257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trail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092440" y="5532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interaction logged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772400" y="5916168"/>
            <a:ext cx="201168" cy="201168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71" name="Text 69"/>
          <p:cNvSpPr/>
          <p:nvPr/>
        </p:nvSpPr>
        <p:spPr>
          <a:xfrm>
            <a:off x="7772400" y="5916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092440" y="5852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seats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092440" y="6126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associates and analysts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signed up to fully onboarded — in under an hour.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engineering, no IT ticket, no integration — just your CSV and 20 minutes.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3337560"/>
            <a:ext cx="10195560" cy="0"/>
          </a:xfrm>
          <a:prstGeom prst="line">
            <a:avLst/>
          </a:prstGeom>
          <a:noFill/>
          <a:ln w="38100">
            <a:solidFill>
              <a:srgbClr val="C8973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394460" y="2880360"/>
            <a:ext cx="914400" cy="914400"/>
          </a:xfrm>
          <a:prstGeom prst="ellipse">
            <a:avLst/>
          </a:prstGeom>
          <a:solidFill>
            <a:srgbClr val="2A354A"/>
          </a:solidFill>
          <a:ln w="50800">
            <a:solidFill>
              <a:srgbClr val="C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446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4160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 free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4663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account. No credit card.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94460" y="5394960"/>
            <a:ext cx="91440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29100" y="2880360"/>
            <a:ext cx="914400" cy="914400"/>
          </a:xfrm>
          <a:prstGeom prst="ellipse">
            <a:avLst/>
          </a:prstGeom>
          <a:solidFill>
            <a:srgbClr val="2A354A"/>
          </a:solidFill>
          <a:ln w="50800">
            <a:solidFill>
              <a:srgbClr val="C8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910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383280" y="402336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11880" y="4160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your portal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11880" y="4663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logo, photo, ADV link, custom subdomain.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29100" y="5394960"/>
            <a:ext cx="91440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63740" y="2880360"/>
            <a:ext cx="914400" cy="914400"/>
          </a:xfrm>
          <a:prstGeom prst="ellipse">
            <a:avLst/>
          </a:prstGeom>
          <a:solidFill>
            <a:srgbClr val="2A354A"/>
          </a:solidFill>
          <a:ln w="50800">
            <a:solidFill>
              <a:srgbClr val="C8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374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6217920" y="402336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4160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your CSV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4663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our template. Map fields. Confirm.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63740" y="5394960"/>
            <a:ext cx="91440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98380" y="2880360"/>
            <a:ext cx="914400" cy="914400"/>
          </a:xfrm>
          <a:prstGeom prst="ellipse">
            <a:avLst/>
          </a:prstGeom>
          <a:solidFill>
            <a:srgbClr val="2A354A"/>
          </a:solidFill>
          <a:ln w="50800">
            <a:solidFill>
              <a:srgbClr val="C89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9838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9" name="Shape 27"/>
          <p:cNvSpPr/>
          <p:nvPr/>
        </p:nvSpPr>
        <p:spPr>
          <a:xfrm>
            <a:off x="9052560" y="402336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81160" y="4160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Invites go out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81160" y="4663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land on your co-branded portal — already on Premium.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98380" y="5394960"/>
            <a:ext cx="91440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lands on the </a:t>
            </a:r>
            <a:pPr algn="ctr" indent="0" marL="0">
              <a:buNone/>
            </a:pPr>
            <a:r>
              <a:rPr lang="en-US" sz="1400" b="1" i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— at no extra cost to them or to you.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B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PLANNER DIRECTORY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found.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paying </a:t>
            </a:r>
            <a:pPr indent="0" marL="0">
              <a:buNone/>
            </a:pPr>
            <a:r>
              <a:rPr lang="en-US" sz="3600" b="1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lead.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free with every plan. Featured to consumers searching for fiduciary advisors who handle the full picture of retirement.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5212080" cy="2788920"/>
          </a:xfrm>
          <a:prstGeom prst="rect">
            <a:avLst/>
          </a:prstGeom>
          <a:solidFill>
            <a:srgbClr val="29375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54680"/>
            <a:ext cx="52120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383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GUYS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SmartAsset, Zoe, WiserAdvisor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Per-lead fees: $50–$300+ per match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Pay-to-play ranking — placement follows the dollar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974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fiduciary screen on consumer side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358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3583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referral disclosure to clients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154680"/>
            <a:ext cx="5212080" cy="2788920"/>
          </a:xfrm>
          <a:prstGeom prst="rect">
            <a:avLst/>
          </a:prstGeom>
          <a:solidFill>
            <a:srgbClr val="293757"/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154680"/>
            <a:ext cx="5212080" cy="7315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383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Fiduciary-aligned by design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per-lead fees. Ever.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based on fit, not who paid most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4974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listed advisors are CFP® or fiduciary-bound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5358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53583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required disclosure to your clients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ever take a per-lead fee from a CFP, you've earned the right to leave.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your practice.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9359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03120"/>
            <a:ext cx="3593592" cy="109728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731520" cy="0"/>
          </a:xfrm>
          <a:prstGeom prst="line">
            <a:avLst/>
          </a:prstGeom>
          <a:noFill/>
          <a:ln w="25400">
            <a:solidFill>
              <a:srgbClr val="0B53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3044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something nobody in your market does. Holistic retirement engagement, not just plan documents.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8536" y="2103120"/>
            <a:ext cx="359359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88536" y="2103120"/>
            <a:ext cx="359359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562856" y="36576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62856" y="4251960"/>
            <a:ext cx="73152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4434840"/>
            <a:ext cx="3044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 a Planner directory drives qualified prospects to you — fiduciary-aligned, fee-free, full-picture.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28432" y="2103120"/>
            <a:ext cx="359359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28432" y="2103120"/>
            <a:ext cx="3593592" cy="10972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8302752" y="36576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302752" y="4251960"/>
            <a:ext cx="731520" cy="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4434840"/>
            <a:ext cx="3044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engage with your brand between meetings. Higher retention. Lower churn. Stickier referrals.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adding a tool. You're adding a </a:t>
            </a:r>
            <a:pPr algn="ctr" indent="0" marL="0">
              <a:buNone/>
            </a:pPr>
            <a:r>
              <a:rPr lang="en-US" sz="1400" b="1" i="1" dirty="0">
                <a:solidFill>
                  <a:srgbClr val="2A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of service</a:t>
            </a:r>
            <a:pPr algn="ctr" indent="0" marL="0">
              <a:buNone/>
            </a:pPr>
            <a:r>
              <a:rPr lang="en-US" sz="14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nobody else in your zip code offers.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B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plans. No setup fees. No long-term contracts.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saves 20%. Cancel anytime.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57600" cy="4572000"/>
          </a:xfrm>
          <a:prstGeom prst="rect">
            <a:avLst/>
          </a:prstGeom>
          <a:solidFill>
            <a:srgbClr val="29375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834640" y="3108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$948/yr  •  billed annually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$99/mo billed monthly)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4069080"/>
            <a:ext cx="292608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42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clients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3799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$3.95 per client / mo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6360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46360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branding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864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4864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PDF reports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0932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50932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planning tools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3218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53218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invitation &amp; management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55504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" y="55504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advisor notes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57790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57790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trail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6007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6007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disclaimers &amp; ADV link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62362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62362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43400" y="1874520"/>
            <a:ext cx="3657600" cy="4572000"/>
          </a:xfrm>
          <a:prstGeom prst="rect">
            <a:avLst/>
          </a:prstGeom>
          <a:solidFill>
            <a:srgbClr val="293757"/>
          </a:solidFill>
          <a:ln w="25400">
            <a:solidFill>
              <a:srgbClr val="C897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94960" y="149047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C8973A"/>
          </a:solidFill>
          <a:ln/>
        </p:spPr>
      </p:sp>
      <p:sp>
        <p:nvSpPr>
          <p:cNvPr id="33" name="Text 31"/>
          <p:cNvSpPr/>
          <p:nvPr/>
        </p:nvSpPr>
        <p:spPr>
          <a:xfrm>
            <a:off x="5394960" y="14904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F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$159</a:t>
            </a:r>
            <a:endParaRPr lang="en-US" sz="5600" dirty="0"/>
          </a:p>
        </p:txBody>
      </p:sp>
      <p:sp>
        <p:nvSpPr>
          <p:cNvPr id="36" name="Text 34"/>
          <p:cNvSpPr/>
          <p:nvPr/>
        </p:nvSpPr>
        <p:spPr>
          <a:xfrm>
            <a:off x="6629400" y="3108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0916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$1,908/yr  •  billed annually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$199/mo billed monthly)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4069080"/>
            <a:ext cx="292608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142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45 clients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09160" y="43799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$3.53 per client / mo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9160" y="46360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46360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Solo, plus: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9160" y="4864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37760" y="4864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subdomain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09160" y="50932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50932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advisor seats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9160" y="53218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53218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09160" y="55504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37760" y="55504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document vault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09160" y="57790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37760" y="57790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 generation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09160" y="6007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37760" y="6007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prep packets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09160" y="62362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37760" y="62362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138160" y="1874520"/>
            <a:ext cx="3657600" cy="4572000"/>
          </a:xfrm>
          <a:prstGeom prst="rect">
            <a:avLst/>
          </a:prstGeom>
          <a:solidFill>
            <a:srgbClr val="29375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50392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50392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$399</a:t>
            </a:r>
            <a:endParaRPr lang="en-US" sz="5600" dirty="0"/>
          </a:p>
        </p:txBody>
      </p:sp>
      <p:sp>
        <p:nvSpPr>
          <p:cNvPr id="61" name="Text 59"/>
          <p:cNvSpPr/>
          <p:nvPr/>
        </p:nvSpPr>
        <p:spPr>
          <a:xfrm>
            <a:off x="10424160" y="3108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0392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$4,788/yr  •  billed annually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50392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$499/mo billed monthly)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503920" y="4069080"/>
            <a:ext cx="292608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03920" y="4142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clients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503920" y="43799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$3.99 / client at 100 — and falling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503920" y="46360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732520" y="46360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Professional, plus: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0" y="4864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732520" y="4864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advisor seats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503920" y="50932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732520" y="50932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503920" y="53218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732520" y="53218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503920" y="55504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732520" y="55504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503920" y="57790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732520" y="57790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compliance documentation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503920" y="6007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732520" y="6007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guarantees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503920" y="62362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732520" y="62362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onboarding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6B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the Find a Planner directory • No per-lead fees • No setup costs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the standards you'd build for yourself.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CFP-grade controls and transparency. Audits run daily. Findings remediated on the day they're found.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2514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 2 Type II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971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Q3 2026 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560320"/>
            <a:ext cx="640080" cy="64008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94960" y="2514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 at rest &amp; in transit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2971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/ TLS 1.3 across all client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19456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560320"/>
            <a:ext cx="640080" cy="64008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44000" y="2514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security audits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2971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scans + immediate remediation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645920" y="4343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audit trail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4800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advisor action logged and exportable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402336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4389120"/>
            <a:ext cx="640080" cy="64008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394960" y="4343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ADV-friendly disclaimers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4800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disclaimer system per advisor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402336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4389120"/>
            <a:ext cx="640080" cy="64008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144000" y="4343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Per-client data isolation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0" y="4800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cross-tenant access — ever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solidFill>
            <a:srgbClr val="2A354A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5989320"/>
            <a:ext cx="73152" cy="36576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security review for your firm? </a:t>
            </a:r>
            <a:pPr indent="0" marL="0">
              <a:buNone/>
            </a:pPr>
            <a:r>
              <a:rPr lang="en-US" sz="1200" b="1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do it personally — and fix anything you find.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  /  Confidential — For CFP Partner Review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6599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B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Activate your free advisor account today.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EFC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We'll import your client roster </a:t>
            </a:r>
            <a:pPr indent="0" marL="0">
              <a:buNone/>
            </a:pPr>
            <a:r>
              <a:rPr lang="en-US" sz="2600" b="1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</a:t>
            </a:r>
            <a:pPr indent="0" marL="0">
              <a:buNone/>
            </a:pPr>
            <a:r>
              <a:rPr lang="en-US" sz="2600" i="1" dirty="0">
                <a:solidFill>
                  <a:srgbClr val="FEFC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our demo call.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3108960"/>
            <a:ext cx="3611880" cy="2103120"/>
          </a:xfrm>
          <a:prstGeom prst="rect">
            <a:avLst/>
          </a:prstGeom>
          <a:solidFill>
            <a:srgbClr val="3A4D7A"/>
          </a:solidFill>
          <a:ln w="12700">
            <a:solidFill>
              <a:srgbClr val="C897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3383280"/>
            <a:ext cx="640080" cy="64008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 free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480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retiremore.com/advisor — 2 minutes, no card.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108960"/>
            <a:ext cx="3611880" cy="2103120"/>
          </a:xfrm>
          <a:prstGeom prst="rect">
            <a:avLst/>
          </a:prstGeom>
          <a:solidFill>
            <a:srgbClr val="3A4D7A"/>
          </a:solidFill>
          <a:ln w="12700">
            <a:solidFill>
              <a:srgbClr val="C897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3383280"/>
            <a:ext cx="640080" cy="64008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92040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your demo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4480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30-min slot that works. Bring your roster.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66760" y="3108960"/>
            <a:ext cx="3611880" cy="2103120"/>
          </a:xfrm>
          <a:prstGeom prst="rect">
            <a:avLst/>
          </a:prstGeom>
          <a:solidFill>
            <a:srgbClr val="3A4D7A"/>
          </a:solidFill>
          <a:ln w="12700">
            <a:solidFill>
              <a:srgbClr val="C897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0" y="3383280"/>
            <a:ext cx="640080" cy="64008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86800" y="4069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 together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0" y="4480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your CSV live. Your clients are onboarded the same day.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532120"/>
            <a:ext cx="10972800" cy="86868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623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Eddie Appell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RetireMore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retiremore.com/advisor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0" y="5760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eddie@retiremore.com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ddie/Projects/RetireWise/Retire-Portal/apps/portal/public/images/RetireMore-Logo-White-ta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1371600"/>
            <a:ext cx="484632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i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9600" dirty="0"/>
          </a:p>
        </p:txBody>
      </p:sp>
      <p:sp>
        <p:nvSpPr>
          <p:cNvPr id="4" name="Shape 1"/>
          <p:cNvSpPr/>
          <p:nvPr/>
        </p:nvSpPr>
        <p:spPr>
          <a:xfrm>
            <a:off x="5029200" y="4297680"/>
            <a:ext cx="2103120" cy="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income.  More purpose.  More clarity.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Eddie Appell</a:t>
            </a:r>
            <a:pPr algn="ctr" indent="0" marL="0">
              <a:buNone/>
            </a:pPr>
            <a:r>
              <a:rPr lang="en-US" sz="14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Founder &amp; CEO  •  </a:t>
            </a:r>
            <a:pPr algn="ctr" indent="0" marL="0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eddie@retiremore.com</a:t>
            </a:r>
            <a:pPr algn="ctr" indent="0" marL="0">
              <a:buNone/>
            </a:pPr>
            <a:r>
              <a:rPr lang="en-US" sz="1400" dirty="0">
                <a:solidFill>
                  <a:srgbClr val="9C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retiremore.com/advisor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RetireMore — The Retirement Platform Your Clients Are Asking For</dc:title>
  <dc:subject>CFP Partnership Pitch</dc:subject>
  <dc:creator>Eddie Appell, RetireMore</dc:creator>
  <cp:lastModifiedBy>Eddie Appell, RetireMore</cp:lastModifiedBy>
  <cp:revision>1</cp:revision>
  <dcterms:created xsi:type="dcterms:W3CDTF">2026-05-08T19:35:34Z</dcterms:created>
  <dcterms:modified xsi:type="dcterms:W3CDTF">2026-05-08T19:35:34Z</dcterms:modified>
</cp:coreProperties>
</file>