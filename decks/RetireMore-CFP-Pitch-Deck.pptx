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Shape 1"/>
          <p:cNvSpPr/>
          <p:nvPr/>
        </p:nvSpPr>
        <p:spPr>
          <a:xfrm>
            <a:off x="11612880" y="6126480"/>
            <a:ext cx="502920" cy="4572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" name="Shape 2"/>
          <p:cNvSpPr/>
          <p:nvPr/>
        </p:nvSpPr>
        <p:spPr>
          <a:xfrm>
            <a:off x="12070080" y="6126480"/>
            <a:ext cx="45720" cy="502920"/>
          </a:xfrm>
          <a:prstGeom prst="rect">
            <a:avLst/>
          </a:prstGeom>
          <a:solidFill>
            <a:srgbClr val="C8973A"/>
          </a:solidFill>
          <a:ln/>
        </p:spPr>
      </p:sp>
      <p:pic>
        <p:nvPicPr>
          <p:cNvPr id="5" name="Image 0" descr="/Users/eddie/Projects/RetireWise/Retire-Portal/apps/portal/public/images/RetireMore-Logo-White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822960"/>
            <a:ext cx="411480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PARTNERSHIP FOR FIDUCIARY ADVISORS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6517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retirement platform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1097280" y="3520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clients are </a:t>
            </a:r>
            <a:pPr indent="0" marL="0">
              <a:buNone/>
            </a:pPr>
            <a:r>
              <a:rPr lang="en-US" sz="54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1097280" y="4617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income.  More purpose.  More clarity.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97280" y="5760720"/>
            <a:ext cx="109728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5870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APPELL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97280" y="6163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CEO, RetireMore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conversation you keep having.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trust you to handle the money. But they keep asking you questions that aren't really about the money.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should we actually retire?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planning + lifestyle fit + healthcare access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9392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2" name="Text 10"/>
          <p:cNvSpPr/>
          <p:nvPr/>
        </p:nvSpPr>
        <p:spPr>
          <a:xfrm>
            <a:off x="4443984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782312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we move abroad?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82312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Visas, healthcare, cost of living, currency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10144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10144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7" name="Text 15"/>
          <p:cNvSpPr/>
          <p:nvPr/>
        </p:nvSpPr>
        <p:spPr>
          <a:xfrm>
            <a:off x="8174736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513064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am I going to do all day?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13064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purpose, social structure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051560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I leave a legacy beyond money?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Volunteering, mentorship, family values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79392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7" name="Text 25"/>
          <p:cNvSpPr/>
          <p:nvPr/>
        </p:nvSpPr>
        <p:spPr>
          <a:xfrm>
            <a:off x="4443984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4782312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to my digital life?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82312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accounts, photos, crypto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10144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10144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2" name="Text 30"/>
          <p:cNvSpPr/>
          <p:nvPr/>
        </p:nvSpPr>
        <p:spPr>
          <a:xfrm>
            <a:off x="8174736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8513064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I give while I'm still alive?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13064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gifting + estate optimization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planning software answers the first half of one question. </a:t>
            </a:r>
            <a:pPr indent="0" marL="0">
              <a:buNone/>
            </a:pPr>
            <a:r>
              <a:rPr lang="en-US" sz="1500" b="1" i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answers all of them.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37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RETIREMENT GAP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solving one third of the picture.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4E4B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is everyone else.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640080" y="53492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pre-retirees say their biggest fears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retirement are NOT financial.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2743200"/>
            <a:ext cx="5029200" cy="960120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2743200"/>
            <a:ext cx="73152" cy="9601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285292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680960" y="2852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Security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80960" y="3218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planning software solves.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3886200"/>
            <a:ext cx="5029200" cy="960120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3886200"/>
            <a:ext cx="73152" cy="960120"/>
          </a:xfrm>
          <a:prstGeom prst="rect">
            <a:avLst/>
          </a:prstGeom>
          <a:solidFill>
            <a:srgbClr val="E6B55A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399592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680960" y="3995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Lifestyle &amp; Purpose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4361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will I live, who will I be, how will I spend my time?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5029200"/>
            <a:ext cx="5029200" cy="960120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5029200"/>
            <a:ext cx="73152" cy="960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513892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680960" y="5138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&amp; Impact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80960" y="5504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 be remembered, what will I leave behind?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EBRI Retirement Confidence Survey; Age Wave / Edward Jones “Four Pillars of the New Retirement.”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1100" dirty="0"/>
          </a:p>
        </p:txBody>
      </p:sp>
      <p:pic>
        <p:nvPicPr>
          <p:cNvPr id="3" name="Image 0" descr="/Users/eddie/Projects/RetireWise/Retire-Portal/apps/portal/public/images/RetireMore-Logo-Black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868680"/>
            <a:ext cx="45720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9659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engagement layer for fiduciary advisors.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2606040"/>
            <a:ext cx="37033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2606040"/>
            <a:ext cx="3703320" cy="109728"/>
          </a:xfrm>
          <a:prstGeom prst="rect">
            <a:avLst/>
          </a:prstGeom>
          <a:solidFill>
            <a:srgbClr val="6B5E6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971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NOT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planning software replacement.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68680" y="46177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eMoney, RightCapital, MoneyGuidePro. RetireMore complements the planning you already do — it doesn't compete with 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2606040"/>
            <a:ext cx="37033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2606040"/>
            <a:ext cx="3703320" cy="109728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12" name="Text 9"/>
          <p:cNvSpPr/>
          <p:nvPr/>
        </p:nvSpPr>
        <p:spPr>
          <a:xfrm>
            <a:off x="4709160" y="2971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709160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always-on engagement layer.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709160" y="46177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retirement tools — financial, lifestyle, legacy — that your clients use between meetings to build a complete retirement plan, not just a financial one.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29600" y="2606040"/>
            <a:ext cx="37033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29600" y="2606040"/>
            <a:ext cx="3703320" cy="109728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7" name="Text 14"/>
          <p:cNvSpPr/>
          <p:nvPr/>
        </p:nvSpPr>
        <p:spPr>
          <a:xfrm>
            <a:off x="8549640" y="2971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549640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questions you can't bill for.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549640" y="46177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want answers about identity, purpose, location, legacy, and digital life. RetireMore lets you answer them — and get credit for it.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tools. Three dimensions of retirement.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gets full access to every tool. You decide which ones to enable per client.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3703320" cy="9144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73152" cy="4206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SECURITY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taxes, Social Security, healthcare, withdrawal strategies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2735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 Planner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90220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8333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Optimization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378333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45308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4119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Impact Analyzer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44119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515950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504063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&amp; Drawdown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504063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7881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Cost Calculator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8328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9120" y="2103120"/>
            <a:ext cx="3703320" cy="914400"/>
          </a:xfrm>
          <a:prstGeom prst="rect">
            <a:avLst/>
          </a:prstGeom>
          <a:solidFill>
            <a:srgbClr val="FED7AA"/>
          </a:solidFill>
          <a:ln/>
        </p:spPr>
      </p:sp>
      <p:sp>
        <p:nvSpPr>
          <p:cNvPr id="27" name="Shape 25"/>
          <p:cNvSpPr/>
          <p:nvPr/>
        </p:nvSpPr>
        <p:spPr>
          <a:xfrm>
            <a:off x="4389120" y="2103120"/>
            <a:ext cx="73152" cy="4206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PURPOSE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you'll live, who you'll be, how you'll spend your time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2735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Abroad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2376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41117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3992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Relocate Selector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23760" y="39928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49499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4937760" y="4831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Builder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23760" y="48310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57881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40" name="Text 38"/>
          <p:cNvSpPr/>
          <p:nvPr/>
        </p:nvSpPr>
        <p:spPr>
          <a:xfrm>
            <a:off x="493776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Purpose Matchmaker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2376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229600" y="2103120"/>
            <a:ext cx="3703320" cy="9144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44" name="Shape 42"/>
          <p:cNvSpPr/>
          <p:nvPr/>
        </p:nvSpPr>
        <p:spPr>
          <a:xfrm>
            <a:off x="8229600" y="2103120"/>
            <a:ext cx="73152" cy="4206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&amp; IMPACT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0392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distribution, lifetime giving, your digital footprint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503920" y="32735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Flow Visualizer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06424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503920" y="45308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1" name="Text 49"/>
          <p:cNvSpPr/>
          <p:nvPr/>
        </p:nvSpPr>
        <p:spPr>
          <a:xfrm>
            <a:off x="8778240" y="44119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Gifting Strategy Planner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1064240" y="44119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503920" y="57881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4" name="Text 52"/>
          <p:cNvSpPr/>
          <p:nvPr/>
        </p:nvSpPr>
        <p:spPr>
          <a:xfrm>
            <a:off x="877824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Estate Manager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106424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48640" y="6400800"/>
            <a:ext cx="0" cy="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57" name="Shape 5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score. One narrative. One action plan.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RetireMore's AI Orchestrator pulls every client's data across all 12 tools and generates a unified retirement plan — for free, on every account.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72800" cy="3794760"/>
          </a:xfrm>
          <a:prstGeom prst="rect">
            <a:avLst/>
          </a:prstGeom>
          <a:solidFill>
            <a:srgbClr val="FEFCFD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468880"/>
            <a:ext cx="1371600" cy="14630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60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68880" y="2468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7889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&amp; Lara are well-positioned with $2.2M in assets, multiple pensions, and expenses covered through age 92. Key opportunities: relocating to Washington for $20K annual tax savings and optimizing estate planning with strategic gifting.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PRIORITIES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4160520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160520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state residence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2292" y="4160520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4622292" y="416052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Tax-advantaged gifting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97980" y="4160520"/>
            <a:ext cx="1906524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6697980" y="4160520"/>
            <a:ext cx="19065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identity plan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35440" y="2468880"/>
            <a:ext cx="2103120" cy="1280160"/>
          </a:xfrm>
          <a:prstGeom prst="rect">
            <a:avLst/>
          </a:prstGeom>
          <a:solidFill>
            <a:srgbClr val="DBEAFE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235440" y="30358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COVERAGE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235440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tools analyzed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4400" y="4800600"/>
            <a:ext cx="10424160" cy="0"/>
          </a:xfrm>
          <a:prstGeom prst="rect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CROSS-TOOL SYNERGIES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Tax-Optimized Relocation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$399K over 20 yrs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3484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Tax Reduction via Gifting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3484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$540K tax-free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5528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Lifestyle Integration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+ culture aligned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walk into your meetings </a:t>
            </a:r>
            <a:pPr indent="0" marL="0">
              <a:buNone/>
            </a:pPr>
            <a:r>
              <a:rPr lang="en-US" sz="13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prepared</a:t>
            </a:r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time.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name. Your logo. Your URL.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sees you front and center. RetireMore stays in the background.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66751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667512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286000"/>
            <a:ext cx="137160" cy="1371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859536" y="2286000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2286000"/>
            <a:ext cx="137160" cy="1371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258568"/>
            <a:ext cx="557784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22585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jane-thompson.retiremore.com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606040"/>
            <a:ext cx="6400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715768"/>
            <a:ext cx="685800" cy="6858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7157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2724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 Thompson, CFP®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Wealth Advisors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2788920"/>
            <a:ext cx="1097280" cy="5486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788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LOGO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back, Robert.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0233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readiness, organized by Jane.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599432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23160" y="4599432"/>
            <a:ext cx="457200" cy="45720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4048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77640" y="459943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448056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32120" y="4599432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89520" y="2148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Customize everything.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7589520" y="2880360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5" name="Text 33"/>
          <p:cNvSpPr/>
          <p:nvPr/>
        </p:nvSpPr>
        <p:spPr>
          <a:xfrm>
            <a:off x="790956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909560" y="3081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advisor-name.retiremore.com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589520" y="3593592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3502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photo, name, title, firm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909560" y="37947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 every client dashboard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589520" y="4306824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1" name="Text 39"/>
          <p:cNvSpPr/>
          <p:nvPr/>
        </p:nvSpPr>
        <p:spPr>
          <a:xfrm>
            <a:off x="7909560" y="421538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 reports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909560" y="45079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colors, logo, ADV link, custom disclaimers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589520" y="5020056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4" name="Text 42"/>
          <p:cNvSpPr/>
          <p:nvPr/>
        </p:nvSpPr>
        <p:spPr>
          <a:xfrm>
            <a:off x="7909560" y="49286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apps per client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909560" y="52212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only the tools relevant to each client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89520" y="5733288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7" name="Text 45"/>
          <p:cNvSpPr/>
          <p:nvPr/>
        </p:nvSpPr>
        <p:spPr>
          <a:xfrm>
            <a:off x="7909560" y="5641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advisor notes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909560" y="593445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client — never visible to them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client. Every score. One screen.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readiness scores, gaps, and progress at a glance — and act on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68580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6858000" cy="457200"/>
          </a:xfrm>
          <a:prstGeom prst="rect">
            <a:avLst/>
          </a:prstGeom>
          <a:solidFill>
            <a:srgbClr val="2A35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67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(28 of 45)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2267712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C8973A"/>
          </a:solidFill>
          <a:ln/>
        </p:spPr>
      </p:sp>
      <p:sp>
        <p:nvSpPr>
          <p:cNvPr id="9" name="Text 7"/>
          <p:cNvSpPr/>
          <p:nvPr/>
        </p:nvSpPr>
        <p:spPr>
          <a:xfrm>
            <a:off x="5715000" y="2267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Invite Client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858000" cy="292608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ACTIVE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&amp; Marie 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26080" y="3017520"/>
            <a:ext cx="457200" cy="45720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0" y="309067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971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 ago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35040" y="2971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incomplete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6858000" cy="594360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Patel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61188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0" y="368503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C8973A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661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35040" y="35661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incomplete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&amp; Diana W.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926080" y="420624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29260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0" y="427939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42793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 ago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incomplete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709160"/>
            <a:ext cx="6858000" cy="594360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 Jensen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926080" y="480060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1" name="Text 39"/>
          <p:cNvSpPr/>
          <p:nvPr/>
        </p:nvSpPr>
        <p:spPr>
          <a:xfrm>
            <a:off x="29260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0" y="487375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DC2626">
              <a:alpha val="2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0" y="48737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needed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46320" y="4754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ago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035040" y="4754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incomplete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349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 Marchetti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539496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8" name="Text 46"/>
          <p:cNvSpPr/>
          <p:nvPr/>
        </p:nvSpPr>
        <p:spPr>
          <a:xfrm>
            <a:off x="292608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57600" y="546811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46320" y="5349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035040" y="5349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incomplete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772400" y="21488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advisors,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consumers.</a:t>
            </a:r>
            <a:endParaRPr lang="en-US" sz="2200" dirty="0"/>
          </a:p>
        </p:txBody>
      </p:sp>
      <p:sp>
        <p:nvSpPr>
          <p:cNvPr id="54" name="Shape 52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55" name="Text 53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34747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CSV import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09244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roster in 60 seconds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72400" y="413308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59" name="Text 57"/>
          <p:cNvSpPr/>
          <p:nvPr/>
        </p:nvSpPr>
        <p:spPr>
          <a:xfrm>
            <a:off x="7772400" y="41330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92440" y="4069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scores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809244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AI-driven, refreshed daily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472744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63" name="Text 61"/>
          <p:cNvSpPr/>
          <p:nvPr/>
        </p:nvSpPr>
        <p:spPr>
          <a:xfrm>
            <a:off x="7772400" y="47274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09244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exports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8092440" y="4937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PDFs and meeting prep packets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772400" y="532180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67" name="Text 65"/>
          <p:cNvSpPr/>
          <p:nvPr/>
        </p:nvSpPr>
        <p:spPr>
          <a:xfrm>
            <a:off x="7772400" y="5321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092440" y="5257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trail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092440" y="5532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interaction logged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772400" y="591616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71" name="Text 69"/>
          <p:cNvSpPr/>
          <p:nvPr/>
        </p:nvSpPr>
        <p:spPr>
          <a:xfrm>
            <a:off x="7772400" y="59161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092440" y="5852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seats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8092440" y="6126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associates and analysts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signed up to fully onboarded — in under an hour.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engineering, no IT ticket, no integration — just your CSV and 20 minutes.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" y="3337560"/>
            <a:ext cx="10195560" cy="0"/>
          </a:xfrm>
          <a:prstGeom prst="line">
            <a:avLst/>
          </a:prstGeom>
          <a:noFill/>
          <a:ln w="38100">
            <a:solidFill>
              <a:srgbClr val="C8973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39446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9446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4864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up free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account. No credit card.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9446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2910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910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338328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1188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your portal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1188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logo, photo, ADV link, custom subdomain.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2910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6374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374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Shape 20"/>
          <p:cNvSpPr/>
          <p:nvPr/>
        </p:nvSpPr>
        <p:spPr>
          <a:xfrm>
            <a:off x="621792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your CSV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4652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our template. Map fields. Confirm.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6374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89838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9838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29" name="Shape 27"/>
          <p:cNvSpPr/>
          <p:nvPr/>
        </p:nvSpPr>
        <p:spPr>
          <a:xfrm>
            <a:off x="905256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28116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Invites go out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28116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land on your co-branded portal — already on Premium.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9838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lands on the </a:t>
            </a:r>
            <a:pPr algn="ctr" indent="0" marL="0">
              <a:buNone/>
            </a:pPr>
            <a:r>
              <a:rPr lang="en-US" sz="1400" b="1" i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— at no extra cost to them or to you.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PLANNER DIRECTORY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found.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paying </a:t>
            </a:r>
            <a:pPr indent="0" marL="0">
              <a:buNone/>
            </a:pPr>
            <a:r>
              <a:rPr lang="en-US" sz="3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lead.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free with every plan. Featured to consumers searching for fiduciary advisors who handle the full picture of retirement.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5212080" cy="278892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154680"/>
            <a:ext cx="521208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383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GUYS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SmartAsset, Zoe, WiserAdvisor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Per-lead fees: $50–$300+ per match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Pay-to-play ranking — placement follows the dollar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fiduciary screen on consumer side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5358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referral disclosure to clients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54680"/>
            <a:ext cx="5212080" cy="2788920"/>
          </a:xfrm>
          <a:prstGeom prst="rect">
            <a:avLst/>
          </a:prstGeom>
          <a:solidFill>
            <a:srgbClr val="293757"/>
          </a:solidFill>
          <a:ln w="19050">
            <a:solidFill>
              <a:srgbClr val="C897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3154680"/>
            <a:ext cx="5212080" cy="7315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383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Fiduciary-aligned by design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0372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per-lead fees. Ever.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03720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based on fit, not who paid most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listed advisors are CFP® or fiduciary-bound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5358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required disclosure to your clients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053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ever take a per-lead fee from a CFP, you've earned the right to leave.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means for your practice.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103120"/>
            <a:ext cx="2697480" cy="109728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53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251960"/>
            <a:ext cx="731520" cy="0"/>
          </a:xfrm>
          <a:prstGeom prst="line">
            <a:avLst/>
          </a:prstGeom>
          <a:noFill/>
          <a:ln w="25400">
            <a:solidFill>
              <a:srgbClr val="0B53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348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something nobody in your market does. Holistic retirement engagement, not just plan documents.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2103120"/>
            <a:ext cx="26974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64992" y="2103120"/>
            <a:ext cx="2697480" cy="109728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2" name="Text 10"/>
          <p:cNvSpPr/>
          <p:nvPr/>
        </p:nvSpPr>
        <p:spPr>
          <a:xfrm>
            <a:off x="3639312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3639312" y="3657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Retain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639312" y="4251960"/>
            <a:ext cx="73152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9312" y="44348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engage with your brand between meetings. Higher retention. Lower churn. Stickier referrals.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2103120"/>
            <a:ext cx="26974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81344" y="2103120"/>
            <a:ext cx="2697480" cy="1097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4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A58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6455664" y="3657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55664" y="4251960"/>
            <a:ext cx="73152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5664" y="44348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 a Planner directory drives qualified prospects to you — fiduciary-aligned, fee-free, full-picture.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26974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97696" y="2103120"/>
            <a:ext cx="26974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9272016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6400" dirty="0"/>
          </a:p>
        </p:txBody>
      </p:sp>
      <p:sp>
        <p:nvSpPr>
          <p:cNvPr id="25" name="Text 23"/>
          <p:cNvSpPr/>
          <p:nvPr/>
        </p:nvSpPr>
        <p:spPr>
          <a:xfrm>
            <a:off x="9272016" y="3657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Charge More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272016" y="4251960"/>
            <a:ext cx="731520" cy="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72016" y="44348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retirement experience supports premium advisory fees. You're delivering more — charge for it.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adding a tool. You're adding a </a:t>
            </a:r>
            <a:pPr algn="ctr"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of service</a:t>
            </a:r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nobody else in your zip code offers.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plans. No setup fees. No long-term contracts.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saves 20%. Cancel anytime.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657600" cy="457200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83464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$948/yr  •  billed annually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$99/mo billed monthly)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60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 clients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572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4572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branding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4800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3000" y="4800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Co-branded PDF reports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43000" y="5029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planning tools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43000" y="52578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invitation &amp; management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54864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43000" y="5486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advisor notes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43000" y="5715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trail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4400" y="5943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43000" y="5943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disclaimers &amp; ADV link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14400" y="6172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43000" y="6172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43400" y="1874520"/>
            <a:ext cx="3657600" cy="4572000"/>
          </a:xfrm>
          <a:prstGeom prst="rect">
            <a:avLst/>
          </a:prstGeom>
          <a:solidFill>
            <a:srgbClr val="293757"/>
          </a:solidFill>
          <a:ln w="25400">
            <a:solidFill>
              <a:srgbClr val="C8973A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94960" y="149047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8973A"/>
          </a:solidFill>
          <a:ln/>
        </p:spPr>
      </p:sp>
      <p:sp>
        <p:nvSpPr>
          <p:cNvPr id="32" name="Text 30"/>
          <p:cNvSpPr/>
          <p:nvPr/>
        </p:nvSpPr>
        <p:spPr>
          <a:xfrm>
            <a:off x="5394960" y="14904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0916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70916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$159</a:t>
            </a:r>
            <a:endParaRPr lang="en-US" sz="5600" dirty="0"/>
          </a:p>
        </p:txBody>
      </p:sp>
      <p:sp>
        <p:nvSpPr>
          <p:cNvPr id="35" name="Text 33"/>
          <p:cNvSpPr/>
          <p:nvPr/>
        </p:nvSpPr>
        <p:spPr>
          <a:xfrm>
            <a:off x="662940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0916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$1,908/yr  •  billed annually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0916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$199/mo billed monthly)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0916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4160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45 clients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709160" y="4572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4572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Solo, plus: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09160" y="4800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37760" y="4800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09160" y="5029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37760" y="5029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advisor seats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70916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37760" y="52578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709160" y="54864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37760" y="5486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document vault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09160" y="5715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937760" y="5715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 generation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709160" y="5943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937760" y="5943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prep packets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09160" y="6172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937760" y="6172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138160" y="1874520"/>
            <a:ext cx="3657600" cy="457200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850392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50392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$399</a:t>
            </a:r>
            <a:endParaRPr lang="en-US" sz="5600" dirty="0"/>
          </a:p>
        </p:txBody>
      </p:sp>
      <p:sp>
        <p:nvSpPr>
          <p:cNvPr id="59" name="Text 57"/>
          <p:cNvSpPr/>
          <p:nvPr/>
        </p:nvSpPr>
        <p:spPr>
          <a:xfrm>
            <a:off x="1042416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50392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$4,788/yr  •  billed annually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50392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$499/mo billed monthly)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50392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503920" y="4160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clients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503920" y="4572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8732520" y="4572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Professional, plus: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503920" y="4800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732520" y="4800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advisor seats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503920" y="5029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732520" y="5029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5039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8732520" y="52578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manager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8503920" y="54864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732520" y="5486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8503920" y="57150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732520" y="57150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compliance documentation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503920" y="59436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8732520" y="59436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guarantees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8503920" y="61722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8732520" y="6172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onboarding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include the Find a Planner directory • No per-lead fees • No setup costs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the standards you'd build for yourself.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CFP-grade controls and transparency. Audits run daily. Findings remediated on the day they're found.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4592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 2 Type 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Q3 2026 target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39496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Encryption at rest &amp; in transit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9496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/ TLS 1.3 across all client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4400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security audits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scans + immediate remediation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64592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audit trail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4592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advisor action logged and exportable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39496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ADV-friendly disclaimers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9496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disclaimer system per advisor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4672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14400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Per-client data isolation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400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cross-tenant access — ever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2A3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548640" y="5989320"/>
            <a:ext cx="73152" cy="36576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 security review for your firm? </a:t>
            </a:r>
            <a:pPr indent="0" marL="0">
              <a:buNone/>
            </a:pPr>
            <a:r>
              <a:rPr lang="en-US" sz="12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do it personally — and fix anything you find.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Activate your free advisor account today.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EFC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We'll import your client roster </a:t>
            </a:r>
            <a:pPr indent="0" marL="0">
              <a:buNone/>
            </a:pPr>
            <a:r>
              <a:rPr lang="en-US" sz="2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</a:t>
            </a:r>
            <a:pPr indent="0" marL="0">
              <a:buNone/>
            </a:pPr>
            <a:r>
              <a:rPr lang="en-US" sz="2600" i="1" dirty="0">
                <a:solidFill>
                  <a:srgbClr val="FEFC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our demo call.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up free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 — 2 minutes, no card.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9204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your demo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9204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30-min slot that works. Bring your roster.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6676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68680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 together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map your CSV live. Your clients are onboarded the same day.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532120"/>
            <a:ext cx="10972800" cy="8686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623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Eddie Appell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CEO, RetireMore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5760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eddie@retiremore.com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ddie/Projects/RetireWise/Retire-Portal/apps/portal/public/images/RetireMore-Logo-White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1371600"/>
            <a:ext cx="484632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4" name="Shape 1"/>
          <p:cNvSpPr/>
          <p:nvPr/>
        </p:nvSpPr>
        <p:spPr>
          <a:xfrm>
            <a:off x="5029200" y="4297680"/>
            <a:ext cx="210312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income.  More purpose.  More clarity.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Appell</a:t>
            </a:r>
            <a:pPr algn="ctr" indent="0" marL="0">
              <a:buNone/>
            </a:pPr>
            <a:r>
              <a:rPr lang="en-US" sz="14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Founder &amp; CEO  •  </a:t>
            </a:r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eddie@retiremore.com</a:t>
            </a:r>
            <a:pPr algn="ctr" indent="0" marL="0">
              <a:buNone/>
            </a:pPr>
            <a:r>
              <a:rPr lang="en-US" sz="14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RetireMore — The Retirement Platform Your Clients Are Missing</dc:title>
  <dc:subject>CFP Partnership Pitch</dc:subject>
  <dc:creator>Eddie Appell, RetireMore</dc:creator>
  <cp:lastModifiedBy>Eddie Appell, RetireMore</cp:lastModifiedBy>
  <cp:revision>1</cp:revision>
  <dcterms:created xsi:type="dcterms:W3CDTF">2026-04-30T17:00:59Z</dcterms:created>
  <dcterms:modified xsi:type="dcterms:W3CDTF">2026-04-30T17:00:59Z</dcterms:modified>
</cp:coreProperties>
</file>